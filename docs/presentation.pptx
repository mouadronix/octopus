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54864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200">
                <a:b/>
                <a:solidFill>
                  <a:srgbClr val="0F172A"/>
                </a:solidFill>
              </a:rPr>
              <a:t>OCTOPUS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2649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475467"/>
                </a:solidFill>
              </a:rPr>
              <a:t>Port operations architecture starter</a:t>
            </a:r>
          </a:p>
        </p:txBody>
      </p:sp>
      <p:sp>
        <p:nvSpPr>
          <p:cNvPr id="4" name="Frontend"/>
          <p:cNvSpPr/>
          <p:nvPr/>
        </p:nvSpPr>
        <p:spPr>
          <a:xfrm>
            <a:off x="731520" y="2286000"/>
            <a:ext cx="29260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</p:sp>
      <p:sp>
        <p:nvSpPr>
          <p:cNvPr id="5" name="FrontendLabel"/>
          <p:cNvSpPr txBox="1"/>
          <p:nvPr/>
        </p:nvSpPr>
        <p:spPr>
          <a:xfrm>
            <a:off x="914400" y="24688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b/>
                <a:solidFill>
                  <a:srgbClr val="2563EB"/>
                </a:solidFill>
              </a:rPr>
              <a:t>Frontend</a:t>
            </a:r>
          </a:p>
        </p:txBody>
      </p:sp>
      <p:sp>
        <p:nvSpPr>
          <p:cNvPr id="6" name="FrontendBody"/>
          <p:cNvSpPr txBox="1"/>
          <p:nvPr/>
        </p:nvSpPr>
        <p:spPr>
          <a:xfrm>
            <a:off x="914400" y="28569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182230"/>
                </a:solidFill>
              </a:rPr>
              <a:t>Angular operator UI</a:t>
            </a:r>
          </a:p>
        </p:txBody>
      </p:sp>
      <p:sp>
        <p:nvSpPr>
          <p:cNvPr id="7" name="Backend"/>
          <p:cNvSpPr/>
          <p:nvPr/>
        </p:nvSpPr>
        <p:spPr>
          <a:xfrm>
            <a:off x="4389120" y="2286000"/>
            <a:ext cx="29260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</p:sp>
      <p:sp>
        <p:nvSpPr>
          <p:cNvPr id="8" name="BackendLabel"/>
          <p:cNvSpPr txBox="1"/>
          <p:nvPr/>
        </p:nvSpPr>
        <p:spPr>
          <a:xfrm>
            <a:off x="4572000" y="24688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b/>
                <a:solidFill>
                  <a:srgbClr val="16A34A"/>
                </a:solidFill>
              </a:rPr>
              <a:t>Backend</a:t>
            </a:r>
          </a:p>
        </p:txBody>
      </p:sp>
      <p:sp>
        <p:nvSpPr>
          <p:cNvPr id="9" name="BackendBody"/>
          <p:cNvSpPr txBox="1"/>
          <p:nvPr/>
        </p:nvSpPr>
        <p:spPr>
          <a:xfrm>
            <a:off x="4572000" y="28569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182230"/>
                </a:solidFill>
              </a:rPr>
              <a:t>.NET Web API</a:t>
            </a:r>
          </a:p>
        </p:txBody>
      </p:sp>
      <p:sp>
        <p:nvSpPr>
          <p:cNvPr id="10" name="Database"/>
          <p:cNvSpPr/>
          <p:nvPr/>
        </p:nvSpPr>
        <p:spPr>
          <a:xfrm>
            <a:off x="8046720" y="2286000"/>
            <a:ext cx="29260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</p:sp>
      <p:sp>
        <p:nvSpPr>
          <p:cNvPr id="11" name="DatabaseLabel"/>
          <p:cNvSpPr txBox="1"/>
          <p:nvPr/>
        </p:nvSpPr>
        <p:spPr>
          <a:xfrm>
            <a:off x="8229600" y="24688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b/>
                <a:solidFill>
                  <a:srgbClr val="D97706"/>
                </a:solidFill>
              </a:rPr>
              <a:t>Database</a:t>
            </a:r>
          </a:p>
        </p:txBody>
      </p:sp>
      <p:sp>
        <p:nvSpPr>
          <p:cNvPr id="12" name="DatabaseBody"/>
          <p:cNvSpPr txBox="1"/>
          <p:nvPr/>
        </p:nvSpPr>
        <p:spPr>
          <a:xfrm>
            <a:off x="8229600" y="28569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182230"/>
                </a:solidFill>
              </a:rPr>
              <a:t>SQLite target path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600">
                <a:b/>
                <a:solidFill>
                  <a:srgbClr val="182230"/>
                </a:solidFill>
              </a:rPr>
              <a:t>Runtime flow</a:t>
            </a:r>
          </a:p>
        </p:txBody>
      </p:sp>
      <p:sp>
        <p:nvSpPr>
          <p:cNvPr id="3" name="Flow"/>
          <p:cNvSpPr txBox="1"/>
          <p:nvPr/>
        </p:nvSpPr>
        <p:spPr>
          <a:xfrm>
            <a:off x="731520" y="2011680"/>
            <a:ext cx="1048752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b/>
                <a:solidFill>
                  <a:srgbClr val="0F172A"/>
                </a:solidFill>
              </a:rPr>
              <a:t>Angular routes -&gt; UI services -&gt; Controllers -&gt; Services + data</a:t>
            </a:r>
          </a:p>
        </p:txBody>
      </p:sp>
      <p:sp>
        <p:nvSpPr>
          <p:cNvPr id="4" name="Note"/>
          <p:cNvSpPr txBox="1"/>
          <p:nvPr/>
        </p:nvSpPr>
        <p:spPr>
          <a:xfrm>
            <a:off x="731520" y="4023360"/>
            <a:ext cx="103680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475467"/>
                </a:solidFill>
              </a:rPr>
              <a:t>The starter API uses an in-memory context so it can run immediately; the database folder is ready for SQLite persistence.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600">
                <a:b/>
                <a:solidFill>
                  <a:srgbClr val="182230"/>
                </a:solidFill>
              </a:rPr>
              <a:t>Domain model</a:t>
            </a:r>
          </a:p>
        </p:txBody>
      </p:sp>
      <p:sp>
        <p:nvSpPr>
          <p:cNvPr id="3" name="Ship"/>
          <p:cNvSpPr txBox="1"/>
          <p:nvPr/>
        </p:nvSpPr>
        <p:spPr>
          <a:xfrm>
            <a:off x="731520" y="14630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82230"/>
                </a:solidFill>
              </a:rPr>
              <a:t>Ship: name, IMO number, cargo type, ETA, status</a:t>
            </a:r>
          </a:p>
        </p:txBody>
      </p:sp>
      <p:sp>
        <p:nvSpPr>
          <p:cNvPr id="4" name="Berth"/>
          <p:cNvSpPr txBox="1"/>
          <p:nvPr/>
        </p:nvSpPr>
        <p:spPr>
          <a:xfrm>
            <a:off x="731520" y="219456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82230"/>
                </a:solidFill>
              </a:rPr>
              <a:t>Berth: name, max draft, availability</a:t>
            </a:r>
          </a:p>
        </p:txBody>
      </p:sp>
      <p:sp>
        <p:nvSpPr>
          <p:cNvPr id="5" name="Assignment"/>
          <p:cNvSpPr txBox="1"/>
          <p:nvPr/>
        </p:nvSpPr>
        <p:spPr>
          <a:xfrm>
            <a:off x="731520" y="292608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82230"/>
                </a:solidFill>
              </a:rPr>
              <a:t>Assignment: ship, berth, start, optional end, status</a:t>
            </a:r>
          </a:p>
        </p:txBody>
      </p:sp>
      <p:sp>
        <p:nvSpPr>
          <p:cNvPr id="6" name="SystemState"/>
          <p:cNvSpPr txBox="1"/>
          <p:nvPr/>
        </p:nvSpPr>
        <p:spPr>
          <a:xfrm>
            <a:off x="731520" y="365760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182230"/>
                </a:solidFill>
              </a:rPr>
              <a:t>SystemState: environment, server time, counts</a:t>
            </a:r>
          </a:p>
        </p:txBody>
      </p:sp>
    </p:spTree>
  </p:cSld>
</p:sld>
</file>

<file path=ppt/theme/theme1.xml><?xml version="1.0" encoding="utf-8"?>
<a:theme xmlns:a="http://schemas.openxmlformats.org/drawingml/2006/main" name="Octopus">
  <a:themeElements>
    <a:clrScheme name="Octopus">
      <a:dk1>
        <a:srgbClr val="0F172A"/>
      </a:dk1>
      <a:lt1>
        <a:srgbClr val="FFFFFF"/>
      </a:lt1>
      <a:dk2>
        <a:srgbClr val="182230"/>
      </a:dk2>
      <a:lt2>
        <a:srgbClr val="F5F7FB"/>
      </a:lt2>
      <a:accent1>
        <a:srgbClr val="2563EB"/>
      </a:accent1>
      <a:accent2>
        <a:srgbClr val="16A34A"/>
      </a:accent2>
      <a:accent3>
        <a:srgbClr val="D97706"/>
      </a:accent3>
      <a:accent4>
        <a:srgbClr val="4F46E5"/>
      </a:accent4>
      <a:accent5>
        <a:srgbClr val="64748B"/>
      </a:accent5>
      <a:accent6>
        <a:srgbClr val="D7DFEA"/>
      </a:accent6>
      <a:hlink>
        <a:srgbClr val="2563EB"/>
      </a:hlink>
      <a:folHlink>
        <a:srgbClr val="4F46E5"/>
      </a:folHlink>
    </a:clrScheme>
    <a:fontScheme name="Octopus">
      <a:majorFont>
        <a:latin typeface="Aptos Display"/>
      </a:majorFont>
      <a:minorFont>
        <a:latin typeface="Aptos"/>
      </a:minorFont>
    </a:fontScheme>
    <a:fmtScheme name="Octopus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